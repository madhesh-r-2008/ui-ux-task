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731520"/>
            <a:ext cx="4389120" cy="4389120"/>
          </a:xfrm>
          <a:prstGeom prst="ellipse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2468880"/>
            <a:ext cx="3840480" cy="3840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89520" y="4297680"/>
            <a:ext cx="1828800" cy="1828800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06640" y="1097280"/>
            <a:ext cx="315468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2514600" cy="1143000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79" y="1664208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668780"/>
            <a:ext cx="640080" cy="6309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6105" y="1590859"/>
            <a:ext cx="13258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100" b="1" i="0" dirty="0" err="1">
                <a:solidFill>
                  <a:srgbClr val="181F43"/>
                </a:solidFill>
                <a:latin typeface="Aptos"/>
              </a:rPr>
              <a:t>Madhesh</a:t>
            </a:r>
            <a:r>
              <a:rPr lang="en-IN" sz="1100" b="1" i="0" dirty="0">
                <a:solidFill>
                  <a:srgbClr val="181F43"/>
                </a:solidFill>
                <a:latin typeface="Aptos"/>
              </a:rPr>
              <a:t> .R</a:t>
            </a:r>
            <a:endParaRPr sz="1100" b="1" i="0" dirty="0">
              <a:solidFill>
                <a:srgbClr val="181F4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32520" y="19202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08F"/>
                </a:solidFill>
                <a:latin typeface="Aptos"/>
              </a:rPr>
              <a:t>College 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5BE6"/>
                </a:solidFill>
                <a:latin typeface="Aptos"/>
              </a:rPr>
              <a:t>GOALS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108960"/>
            <a:ext cx="2103120" cy="338328"/>
          </a:xfrm>
          <a:prstGeom prst="round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936992" y="3209544"/>
            <a:ext cx="137160" cy="137160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154680"/>
            <a:ext cx="15544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Study smarter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611880"/>
            <a:ext cx="2103120" cy="338328"/>
          </a:xfrm>
          <a:prstGeom prst="round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3712463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3657600"/>
            <a:ext cx="15544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Meet deadlines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114800"/>
            <a:ext cx="2103120" cy="338328"/>
          </a:xfrm>
          <a:prstGeom prst="round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36992" y="4215383"/>
            <a:ext cx="137160" cy="137160"/>
          </a:xfrm>
          <a:prstGeom prst="ellipse">
            <a:avLst/>
          </a:prstGeom>
          <a:solidFill>
            <a:srgbClr val="FF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4160520"/>
            <a:ext cx="155448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Track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00584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9B7AA"/>
                </a:solidFill>
                <a:latin typeface="Aptos"/>
              </a:rPr>
              <a:t>UI/UX DESIGN  •  COLLEGE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600200"/>
            <a:ext cx="66751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"/>
              </a:rPr>
              <a:t>USER PERSONA
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657600"/>
            <a:ext cx="5852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AE0FF"/>
                </a:solidFill>
                <a:latin typeface="Aptos"/>
              </a:rPr>
              <a:t>Understand people. Design better experiences.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89120"/>
            <a:ext cx="731520" cy="54864"/>
          </a:xfrm>
          <a:prstGeom prst="rect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4800600"/>
            <a:ext cx="4114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Aptos"/>
              </a:rPr>
              <a:t>Student Name:</a:t>
            </a:r>
            <a:r>
              <a:rPr lang="en-IN" sz="1300" b="0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IN" sz="1300" b="0" i="0" dirty="0" err="1">
                <a:solidFill>
                  <a:srgbClr val="FFFFFF"/>
                </a:solidFill>
                <a:latin typeface="Aptos"/>
              </a:rPr>
              <a:t>madhesh</a:t>
            </a:r>
            <a:r>
              <a:rPr lang="en-IN" sz="1300" b="0" i="0" dirty="0">
                <a:solidFill>
                  <a:srgbClr val="FFFFFF"/>
                </a:solidFill>
                <a:latin typeface="Aptos"/>
              </a:rPr>
              <a:t> .R</a:t>
            </a:r>
            <a:endParaRPr sz="13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5195857"/>
            <a:ext cx="4114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Aptos"/>
              </a:rPr>
              <a:t>Department:</a:t>
            </a:r>
            <a:r>
              <a:rPr lang="en-IN" sz="1300" b="0" i="0" dirty="0">
                <a:solidFill>
                  <a:srgbClr val="FFFFFF"/>
                </a:solidFill>
                <a:latin typeface="Aptos"/>
              </a:rPr>
              <a:t> B.SC .CS (</a:t>
            </a:r>
            <a:r>
              <a:rPr lang="en-IN" sz="1300" b="0" i="0" dirty="0" err="1">
                <a:solidFill>
                  <a:srgbClr val="FFFFFF"/>
                </a:solidFill>
                <a:latin typeface="Aptos"/>
              </a:rPr>
              <a:t>aiml</a:t>
            </a:r>
            <a:r>
              <a:rPr lang="en-IN" sz="1300" b="0" i="0" dirty="0">
                <a:solidFill>
                  <a:srgbClr val="FFFFFF"/>
                </a:solidFill>
                <a:latin typeface="Aptos"/>
              </a:rPr>
              <a:t>)</a:t>
            </a:r>
            <a:endParaRPr sz="13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672" y="5660136"/>
            <a:ext cx="4114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Aptos"/>
              </a:rPr>
              <a:t>College: __________________________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01 •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1F43"/>
                </a:solidFill>
                <a:latin typeface="Aptos"/>
              </a:rPr>
              <a:t>What is a user persona?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3657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02  /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6492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81F43"/>
                </a:solidFill>
                <a:latin typeface="Aptos"/>
              </a:rPr>
              <a:t>A user persona is a fictional profile that represents a key type of user, built from research and real user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88920"/>
            <a:ext cx="6217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7708F"/>
                </a:solidFill>
                <a:latin typeface="Aptos"/>
              </a:rPr>
              <a:t>It helps a design team understand who they are designing for — and what matters to that person.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0020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0" y="192024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924812"/>
            <a:ext cx="1097280" cy="10881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46120"/>
            <a:ext cx="2651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65BE6"/>
                </a:solidFill>
                <a:latin typeface="Aptos"/>
              </a:rPr>
              <a:t>A PERSONA IS…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703320"/>
            <a:ext cx="2651760" cy="365760"/>
          </a:xfrm>
          <a:prstGeom prst="round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7" y="3767328"/>
            <a:ext cx="24231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A314B"/>
                </a:solidFill>
                <a:latin typeface="Aptos"/>
              </a:rPr>
              <a:t>A focused user snapshot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33672"/>
            <a:ext cx="2651760" cy="365760"/>
          </a:xfrm>
          <a:prstGeom prst="round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7" y="4297680"/>
            <a:ext cx="24231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A314B"/>
                </a:solidFill>
                <a:latin typeface="Aptos"/>
              </a:rPr>
              <a:t>A guide for design choices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64024"/>
            <a:ext cx="2651760" cy="365760"/>
          </a:xfrm>
          <a:prstGeom prst="round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4828032"/>
            <a:ext cx="24231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A314B"/>
                </a:solidFill>
                <a:latin typeface="Aptos"/>
              </a:rPr>
              <a:t>A way to build empathy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6217920" cy="960120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443984"/>
            <a:ext cx="1188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B5CF6"/>
                </a:solidFill>
                <a:latin typeface="Aptos"/>
              </a:rP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07408"/>
            <a:ext cx="4526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81F43"/>
                </a:solidFill>
                <a:latin typeface="Aptos"/>
              </a:rPr>
              <a:t>Personas should be informed by interviews, surveys, observation, or analytics — not stereotypes.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F"/>
                </a:solidFill>
                <a:latin typeface="Aptos"/>
              </a:rPr>
              <a:t>USER PERSONA DEVELOPMENT  •  UI/UX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02 •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1F43"/>
                </a:solidFill>
                <a:latin typeface="Aptos"/>
              </a:rPr>
              <a:t>Why do designers use personas?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3657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03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920240"/>
            <a:ext cx="530352" cy="530352"/>
          </a:xfrm>
          <a:prstGeom prst="ellipse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24812"/>
            <a:ext cx="530352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928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5117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43"/>
                </a:solidFill>
                <a:latin typeface="Aptos"/>
              </a:rPr>
              <a:t>Understand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08F"/>
                </a:solidFill>
                <a:latin typeface="Aptos"/>
              </a:rPr>
              <a:t>See what users are trying to achieve.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9164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27448" y="1920240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924812"/>
            <a:ext cx="530352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928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5117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43"/>
                </a:solidFill>
                <a:latin typeface="Aptos"/>
              </a:rPr>
              <a:t>Spot pain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880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08F"/>
                </a:solidFill>
                <a:latin typeface="Aptos"/>
              </a:rPr>
              <a:t>Find friction and frustrations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9164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22208" y="1920240"/>
            <a:ext cx="530352" cy="530352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1924812"/>
            <a:ext cx="530352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189280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55117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43"/>
                </a:solidFill>
                <a:latin typeface="Aptos"/>
              </a:rPr>
              <a:t>Make better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88036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08F"/>
                </a:solidFill>
                <a:latin typeface="Aptos"/>
              </a:rPr>
              <a:t>Prioritize features that matter.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79476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852928" y="4023360"/>
            <a:ext cx="530352" cy="530352"/>
          </a:xfrm>
          <a:prstGeom prst="ellipse">
            <a:avLst/>
          </a:prstGeom>
          <a:solidFill>
            <a:srgbClr val="FF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52928" y="4027932"/>
            <a:ext cx="530352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959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465429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43"/>
                </a:solidFill>
                <a:latin typeface="Aptos"/>
              </a:rPr>
              <a:t>Align the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98348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08F"/>
                </a:solidFill>
                <a:latin typeface="Aptos"/>
              </a:rPr>
              <a:t>Give everyone a shared user focus.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79476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647688" y="4023360"/>
            <a:ext cx="530352" cy="530352"/>
          </a:xfrm>
          <a:prstGeom prst="ellipse">
            <a:avLst/>
          </a:prstGeom>
          <a:solidFill>
            <a:srgbClr val="EAA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7688" y="4027932"/>
            <a:ext cx="530352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995928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465429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43"/>
                </a:solidFill>
                <a:latin typeface="Aptos"/>
              </a:rPr>
              <a:t>Improve usability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498348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08F"/>
                </a:solidFill>
                <a:latin typeface="Aptos"/>
              </a:rPr>
              <a:t>Create clearer, easier experiences.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37960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F"/>
                </a:solidFill>
                <a:latin typeface="Aptos"/>
              </a:rPr>
              <a:t>USER PERSONA DEVELOPMENT  •  UI/UX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03 • PERSONA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1F43"/>
                </a:solidFill>
                <a:latin typeface="Aptos"/>
              </a:rPr>
              <a:t>What goes into a persona?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3657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04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1828800"/>
            <a:ext cx="3154680" cy="960120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984248"/>
            <a:ext cx="640080" cy="640080"/>
          </a:xfrm>
          <a:prstGeom prst="ellipse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88819"/>
            <a:ext cx="640080" cy="6309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993392"/>
            <a:ext cx="192024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500" b="1" i="0" dirty="0" err="1">
                <a:solidFill>
                  <a:srgbClr val="181F43"/>
                </a:solidFill>
                <a:latin typeface="Aptos"/>
              </a:rPr>
              <a:t>Madhesh</a:t>
            </a:r>
            <a:r>
              <a:rPr lang="en-IN" sz="1500" b="1" i="0" dirty="0">
                <a:solidFill>
                  <a:srgbClr val="181F43"/>
                </a:solidFill>
                <a:latin typeface="Aptos"/>
              </a:rPr>
              <a:t> R</a:t>
            </a:r>
            <a:endParaRPr sz="1500" b="1" i="0" dirty="0">
              <a:solidFill>
                <a:srgbClr val="181F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230428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08F"/>
                </a:solidFill>
                <a:latin typeface="Aptos"/>
              </a:rPr>
              <a:t>20 • College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17520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9B7AA"/>
                </a:solidFill>
                <a:latin typeface="Aptos"/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99232"/>
            <a:ext cx="18288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Study efficiently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7EA3"/>
                </a:solidFill>
                <a:latin typeface="Aptos"/>
              </a:rP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657599"/>
            <a:ext cx="18288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Deadlines and confusing menus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334256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5BE6"/>
                </a:solidFill>
                <a:latin typeface="Aptos"/>
              </a:rPr>
              <a:t>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315968"/>
            <a:ext cx="18288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Phone + laptop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992624"/>
            <a:ext cx="1143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B5CF6"/>
                </a:solidFill>
                <a:latin typeface="Aptos"/>
              </a:rPr>
              <a:t>MOTIVATION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974336"/>
            <a:ext cx="18288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314B"/>
                </a:solidFill>
                <a:latin typeface="Aptos"/>
              </a:rPr>
              <a:t>Good grades and new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783080"/>
            <a:ext cx="6126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81F43"/>
                </a:solidFill>
                <a:latin typeface="Aptos"/>
              </a:rPr>
              <a:t>A useful persona answers six questions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2423160"/>
            <a:ext cx="320040" cy="320040"/>
          </a:xfrm>
          <a:prstGeom prst="ellipse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2427732"/>
            <a:ext cx="320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432303"/>
            <a:ext cx="2057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WHO?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427732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Name, age, occupation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0" y="295351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2958084"/>
            <a:ext cx="320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62656"/>
            <a:ext cx="2057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WHAT DO THEY WANT?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958084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Goals and needs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0" y="3483863"/>
            <a:ext cx="320040" cy="320040"/>
          </a:xfrm>
          <a:prstGeom prst="ellipse">
            <a:avLst/>
          </a:prstGeom>
          <a:solidFill>
            <a:srgbClr val="FF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3488435"/>
            <a:ext cx="320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493007"/>
            <a:ext cx="2057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WHAT GETS IN THE WAY?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488435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Challenges and frustrations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0" y="4014215"/>
            <a:ext cx="320040" cy="320040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4018787"/>
            <a:ext cx="320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023359"/>
            <a:ext cx="2057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HOW DO THEY WORK?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018787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Devices and technology habits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0" y="4544568"/>
            <a:ext cx="320040" cy="320040"/>
          </a:xfrm>
          <a:prstGeom prst="ellipse">
            <a:avLst/>
          </a:prstGeom>
          <a:solidFill>
            <a:srgbClr val="EAA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0" y="4549140"/>
            <a:ext cx="320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553712"/>
            <a:ext cx="2057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WHY DOES IT MATTER?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549140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Motivations and preferences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0" y="5074920"/>
            <a:ext cx="320040" cy="320040"/>
          </a:xfrm>
          <a:prstGeom prst="ellipse">
            <a:avLst/>
          </a:prstGeom>
          <a:solidFill>
            <a:srgbClr val="18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0" y="5079492"/>
            <a:ext cx="320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084064"/>
            <a:ext cx="2057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WHAT DO THEY SAY?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5079492"/>
            <a:ext cx="3108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A short, representative quote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37960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F"/>
                </a:solidFill>
                <a:latin typeface="Aptos"/>
              </a:rPr>
              <a:t>USER PERSONA DEVELOPMENT  •  UI/UX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04 • PERSONA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1F43"/>
                </a:solidFill>
                <a:latin typeface="Aptos"/>
              </a:rPr>
              <a:t>Priya Sharma  |  The focused student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3657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05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2880360" cy="4526280"/>
          </a:xfrm>
          <a:prstGeom prst="roundRect">
            <a:avLst/>
          </a:prstGeom>
          <a:solidFill>
            <a:srgbClr val="18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1417320" y="1901952"/>
            <a:ext cx="1417320" cy="1417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141732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04487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FD3FF"/>
                </a:solidFill>
                <a:latin typeface="Aptos"/>
              </a:rPr>
              <a:t>20 YEARS  •  COLLEGE STUDENT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4389120"/>
            <a:ext cx="822960" cy="45720"/>
          </a:xfrm>
          <a:prstGeom prst="rect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2331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Aptos"/>
              </a:rPr>
              <a:t>“I want to study without
confusion or wasted time.”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9B7AA"/>
                </a:solidFill>
                <a:latin typeface="Aptos"/>
              </a:rPr>
              <a:t>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806440"/>
            <a:ext cx="2286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Simple • Fast • Organized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62763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86200" y="1627632"/>
            <a:ext cx="3429000" cy="82296"/>
          </a:xfrm>
          <a:prstGeom prst="rect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8" y="1856232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9B7AA"/>
                </a:solidFill>
                <a:latin typeface="Aptos"/>
              </a:rPr>
              <a:t>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2194560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Find study materials quickly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Attend classes and track progress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Submit work on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62763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1627632"/>
            <a:ext cx="3429000" cy="82296"/>
          </a:xfrm>
          <a:prstGeom prst="rect">
            <a:avLst/>
          </a:prstGeom>
          <a:solidFill>
            <a:srgbClr val="FF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1856232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EA3"/>
                </a:solidFill>
                <a:latin typeface="Aptos"/>
              </a:rPr>
              <a:t>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2194560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Slow internet connection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Managing assignment deadlines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Confusing platform navigation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76732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86200" y="3767328"/>
            <a:ext cx="3429000" cy="82296"/>
          </a:xfrm>
          <a:prstGeom prst="rect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87368" y="3995928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65BE6"/>
                </a:solidFill>
                <a:latin typeface="Aptos"/>
              </a:rPr>
              <a:t>TECHNOLOGY USAGE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4334256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Smartphone and laptop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Daily use of learning apps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Messaging for class updates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76732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3767328"/>
            <a:ext cx="3429000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27848" y="3995928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MOTIVATIONS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1" y="4334256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Achieve good grades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Learn useful new skills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Save time and stay organized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37960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F"/>
                </a:solidFill>
                <a:latin typeface="Aptos"/>
              </a:rPr>
              <a:t>USER PERSONA DEVELOPMENT  •  UI/UX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05 • PERSONA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1F43"/>
                </a:solidFill>
                <a:latin typeface="Aptos"/>
              </a:rPr>
              <a:t>Arun Kumar  |  The growth-minded professional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3657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06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2880360" cy="4526280"/>
          </a:xfrm>
          <a:prstGeom prst="roundRect">
            <a:avLst/>
          </a:prstGeom>
          <a:solidFill>
            <a:srgbClr val="1F3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17320" y="1901952"/>
            <a:ext cx="1417320" cy="1417320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141732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2044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ARUN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04487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CAEBF2"/>
                </a:solidFill>
                <a:latin typeface="Aptos"/>
              </a:rPr>
              <a:t>28 YEARS  •  SOFTWARE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4389120"/>
            <a:ext cx="822960" cy="45720"/>
          </a:xfrm>
          <a:prstGeom prst="rect">
            <a:avLst/>
          </a:prstGeom>
          <a:solidFill>
            <a:srgbClr val="FF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2331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Aptos"/>
              </a:rPr>
              <a:t>“Learning should fit around
my busy work schedule.”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57784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FCA57"/>
                </a:solidFill>
                <a:latin typeface="Aptos"/>
              </a:rPr>
              <a:t>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806440"/>
            <a:ext cx="2286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Flexible • Relevant • Efficient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62763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86200" y="1627632"/>
            <a:ext cx="3429000" cy="82296"/>
          </a:xfrm>
          <a:prstGeom prst="rect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8" y="1856232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9B7AA"/>
                </a:solidFill>
                <a:latin typeface="Aptos"/>
              </a:rPr>
              <a:t>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2194560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Build technical skills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Learn after working hours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Earn professional certificates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62763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26679" y="1627632"/>
            <a:ext cx="3429000" cy="82296"/>
          </a:xfrm>
          <a:prstGeom prst="rect">
            <a:avLst/>
          </a:prstGeom>
          <a:solidFill>
            <a:srgbClr val="FF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1856232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EA3"/>
                </a:solidFill>
                <a:latin typeface="Aptos"/>
              </a:rPr>
              <a:t>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2194560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Limited time after work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Finding relevant courses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Rigid learning schedules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76732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86200" y="3767328"/>
            <a:ext cx="3429000" cy="82296"/>
          </a:xfrm>
          <a:prstGeom prst="rect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87368" y="3995928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65BE6"/>
                </a:solidFill>
                <a:latin typeface="Aptos"/>
              </a:rPr>
              <a:t>TECHNOLOGY USAGE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4334256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Laptop and smartphone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Online courses and work tools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Uses productivity apps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3767328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3767328"/>
            <a:ext cx="3429000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27848" y="3995928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MOTIVATIONS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1" y="4334256"/>
            <a:ext cx="3063240" cy="114300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Career growth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Improve earning potential</a:t>
            </a:r>
          </a:p>
          <a:p>
            <a:pPr>
              <a:spcAft>
                <a:spcPts val="500"/>
              </a:spcAft>
              <a:defRPr sz="1100">
                <a:solidFill>
                  <a:srgbClr val="2A314B"/>
                </a:solidFill>
                <a:latin typeface="Aptos"/>
              </a:defRPr>
            </a:pPr>
            <a:r>
              <a:t>•  Learn at a convenient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37960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F"/>
                </a:solidFill>
                <a:latin typeface="Aptos"/>
              </a:rPr>
              <a:t>USER PERSONA DEVELOPMENT  •  UI/UX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486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5BE6"/>
                </a:solidFill>
                <a:latin typeface="Aptos"/>
              </a:rPr>
              <a:t>06 • COMPARE &amp;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881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1F43"/>
                </a:solidFill>
                <a:latin typeface="Aptos"/>
              </a:rPr>
              <a:t>Same platform. Different user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658368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52760" y="3657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08F"/>
                </a:solidFill>
                <a:latin typeface="Aptos"/>
              </a:rPr>
              <a:t>07  /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2148840" cy="576072"/>
          </a:xfrm>
          <a:prstGeom prst="roundRect">
            <a:avLst/>
          </a:prstGeom>
          <a:solidFill>
            <a:srgbClr val="181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965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1664208"/>
            <a:ext cx="4069080" cy="5760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828800"/>
            <a:ext cx="3886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PRIYA  •  STUDENT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5744" y="1664208"/>
            <a:ext cx="4069080" cy="576072"/>
          </a:xfrm>
          <a:prstGeom prst="roundRect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87184" y="1828800"/>
            <a:ext cx="3886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ARUN  •  PROFESSIONAL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214884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423160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Main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3512" y="2313432"/>
            <a:ext cx="40690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423160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Study efficiently and improve grades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95744" y="2313432"/>
            <a:ext cx="40690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14616" y="2423160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Grow skills and advance career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62656"/>
            <a:ext cx="2148840" cy="576072"/>
          </a:xfrm>
          <a:prstGeom prst="roundRect">
            <a:avLst/>
          </a:prstGeom>
          <a:solidFill>
            <a:srgbClr val="F4F7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072384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Biggest barrier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2962656"/>
            <a:ext cx="4069080" cy="576072"/>
          </a:xfrm>
          <a:prstGeom prst="roundRect">
            <a:avLst/>
          </a:prstGeom>
          <a:solidFill>
            <a:srgbClr val="F4F7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2384" y="3072384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Deadlines, slow internet, confusing menus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95744" y="2962656"/>
            <a:ext cx="4069080" cy="576072"/>
          </a:xfrm>
          <a:prstGeom prst="roundRect">
            <a:avLst/>
          </a:prstGeom>
          <a:solidFill>
            <a:srgbClr val="F4F7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14616" y="3072384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Limited time and course relevance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11880"/>
            <a:ext cx="214884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3721608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Typical device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3512" y="3611880"/>
            <a:ext cx="40690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72384" y="3721608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Phone and laptop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5744" y="3611880"/>
            <a:ext cx="40690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14616" y="3721608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Laptop and smartphone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61104"/>
            <a:ext cx="2148840" cy="576072"/>
          </a:xfrm>
          <a:prstGeom prst="roundRect">
            <a:avLst/>
          </a:prstGeom>
          <a:solidFill>
            <a:srgbClr val="F4F7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4370832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Best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53512" y="4261104"/>
            <a:ext cx="4069080" cy="576072"/>
          </a:xfrm>
          <a:prstGeom prst="roundRect">
            <a:avLst/>
          </a:prstGeom>
          <a:solidFill>
            <a:srgbClr val="F4F7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72384" y="4370832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Clear navigation and deadline reminders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95744" y="4261104"/>
            <a:ext cx="4069080" cy="576072"/>
          </a:xfrm>
          <a:prstGeom prst="roundRect">
            <a:avLst/>
          </a:prstGeom>
          <a:solidFill>
            <a:srgbClr val="F4F7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14616" y="4370832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Flexible lessons and progress 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10328"/>
            <a:ext cx="214884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" y="5020056"/>
            <a:ext cx="1911095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Success looks like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53512" y="4910328"/>
            <a:ext cx="40690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72384" y="5020056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Less stress, on-time submissions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95744" y="4910328"/>
            <a:ext cx="406908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0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14616" y="5020056"/>
            <a:ext cx="383133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314B"/>
                </a:solidFill>
                <a:latin typeface="Aptos"/>
              </a:rPr>
              <a:t>Practical skills and certificates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" y="5623560"/>
            <a:ext cx="9966960" cy="502920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5779008"/>
            <a:ext cx="1645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B5CF6"/>
                </a:solidFill>
                <a:latin typeface="Aptos"/>
              </a:rPr>
              <a:t>DESIGN TAKEAWAY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742432"/>
            <a:ext cx="7680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43"/>
                </a:solidFill>
                <a:latin typeface="Aptos"/>
              </a:rPr>
              <a:t>Offer simple navigation, reminders, flexible learning, and visible progress.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6537960"/>
            <a:ext cx="5486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7708F"/>
                </a:solidFill>
                <a:latin typeface="Aptos"/>
              </a:rPr>
              <a:t>USER PERSONA DEVELOPMENT  •  UI/UX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594360"/>
            <a:ext cx="4206240" cy="4206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4023360"/>
            <a:ext cx="3383280" cy="3383280"/>
          </a:xfrm>
          <a:prstGeom prst="ellipse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09560" y="4206240"/>
            <a:ext cx="1463040" cy="1463040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9B7AA"/>
                </a:solidFill>
                <a:latin typeface="Aptos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0408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Design for people,
not just products.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3246120"/>
            <a:ext cx="256032" cy="256032"/>
          </a:xfrm>
          <a:prstGeom prst="ellipse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250691"/>
            <a:ext cx="256032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264408"/>
            <a:ext cx="5852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BFF"/>
                </a:solidFill>
                <a:latin typeface="Aptos"/>
              </a:rPr>
              <a:t>Personas build empathy for users.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749039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753611"/>
            <a:ext cx="256032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767328"/>
            <a:ext cx="5852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BFF"/>
                </a:solidFill>
                <a:latin typeface="Aptos"/>
              </a:rPr>
              <a:t>Research makes personas more realistic.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251960"/>
            <a:ext cx="256032" cy="256032"/>
          </a:xfrm>
          <a:prstGeom prst="ellipse">
            <a:avLst/>
          </a:prstGeom>
          <a:solidFill>
            <a:srgbClr val="FF7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4256532"/>
            <a:ext cx="256032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270248"/>
            <a:ext cx="5852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BFF"/>
                </a:solidFill>
                <a:latin typeface="Aptos"/>
              </a:rPr>
              <a:t>Different users may need different solutions.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754880"/>
            <a:ext cx="256032" cy="256032"/>
          </a:xfrm>
          <a:prstGeom prst="ellipse">
            <a:avLst/>
          </a:prstGeom>
          <a:solidFill>
            <a:srgbClr val="FF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759452"/>
            <a:ext cx="256032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81F43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773168"/>
            <a:ext cx="5852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EBFF"/>
                </a:solidFill>
                <a:latin typeface="Aptos"/>
              </a:rPr>
              <a:t>Use personas to guide and test design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508760"/>
            <a:ext cx="29260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431" y="1828800"/>
            <a:ext cx="2423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1F43"/>
                </a:solidFill>
                <a:latin typeface="Aptos"/>
              </a:rPr>
              <a:t>EMPATHY → INSIGHT →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697480"/>
            <a:ext cx="2103120" cy="438912"/>
          </a:xfrm>
          <a:prstGeom prst="roundRect">
            <a:avLst/>
          </a:prstGeom>
          <a:solidFill>
            <a:srgbClr val="29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798064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383280"/>
            <a:ext cx="2103120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3483864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Identify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4069080"/>
            <a:ext cx="2103120" cy="438912"/>
          </a:xfrm>
          <a:prstGeom prst="roundRect">
            <a:avLst/>
          </a:prstGeom>
          <a:solidFill>
            <a:srgbClr val="46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4169664"/>
            <a:ext cx="2011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9B7AA"/>
                </a:solidFill>
                <a:latin typeface="Aptos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710</Words>
  <Application>Microsoft Office PowerPoint</Application>
  <PresentationFormat>Widescreen</PresentationFormat>
  <Paragraphs>176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MADHESH</dc:creator>
  <cp:keywords/>
  <dc:description>generated using python-pptx</dc:description>
  <cp:lastModifiedBy>madhesh2510@outlook.com</cp:lastModifiedBy>
  <cp:revision>2</cp:revision>
  <dcterms:created xsi:type="dcterms:W3CDTF">2013-01-27T09:14:16Z</dcterms:created>
  <dcterms:modified xsi:type="dcterms:W3CDTF">2026-10-26T08:13:16Z</dcterms:modified>
  <cp:category/>
</cp:coreProperties>
</file>